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371600"/>
            <a:ext cx="7772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Campaign Performance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560320"/>
            <a:ext cx="7772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C9A227"/>
                </a:solidFill>
              </a:defRPr>
            </a:pPr>
            <a:r>
              <a:t>CS 67. Equify Financial</a:t>
            </a:r>
          </a:p>
          <a:p>
            <a:pPr>
              <a:defRPr sz="2000">
                <a:solidFill>
                  <a:srgbClr val="FFFFFF"/>
                </a:solidFill>
              </a:defRPr>
            </a:pPr>
            <a:r>
              <a:t>The Hidden Cash Inside Your Equipment Fleet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389120"/>
            <a:ext cx="7772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AABBCC"/>
                </a:solidFill>
              </a:defRPr>
            </a:pPr>
            <a:r>
              <a:t>The Construction Show</a:t>
            </a:r>
          </a:p>
          <a:p>
            <a:pPr>
              <a:defRPr sz="1400">
                <a:solidFill>
                  <a:srgbClr val="AABBCC"/>
                </a:solidFill>
              </a:defRPr>
            </a:pPr>
            <a:r>
              <a:t>Report Date: 2026-07-31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9A227"/>
                </a:solidFill>
              </a:defRPr>
            </a:pPr>
            <a:r>
              <a:t>CS 67 — Equify Financial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920240" cy="914400"/>
          </a:xfrm>
          <a:prstGeom prst="rect">
            <a:avLst/>
          </a:prstGeom>
          <a:solidFill>
            <a:srgbClr val="C9A227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170078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1A2B4A"/>
                </a:solidFill>
              </a:defRPr>
            </a:pPr>
            <a:r>
              <a:t>Video Views</a:t>
            </a:r>
          </a:p>
          <a:p>
            <a:pPr>
              <a:defRPr sz="2000" b="1">
                <a:solidFill>
                  <a:srgbClr val="1A2B4A"/>
                </a:solidFill>
              </a:defRPr>
            </a:pPr>
            <a:r>
              <a:t>52,900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0" y="1280160"/>
            <a:ext cx="1920240" cy="91440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70048" y="1353312"/>
            <a:ext cx="170078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66666"/>
                </a:solidFill>
              </a:defRPr>
            </a:pPr>
            <a:r>
              <a:t>Watch Time (hrs)</a:t>
            </a:r>
          </a:p>
          <a:p>
            <a:pPr>
              <a:defRPr sz="1600" b="1">
                <a:solidFill>
                  <a:srgbClr val="1A2B4A"/>
                </a:solidFill>
              </a:defRPr>
            </a:pPr>
            <a:r>
              <a:t>[TBD]</a:t>
            </a:r>
          </a:p>
        </p:txBody>
      </p:sp>
      <p:sp>
        <p:nvSpPr>
          <p:cNvPr id="9" name="Rectangle 8"/>
          <p:cNvSpPr/>
          <p:nvPr/>
        </p:nvSpPr>
        <p:spPr>
          <a:xfrm>
            <a:off x="4663440" y="1280160"/>
            <a:ext cx="1920240" cy="91440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1353312"/>
            <a:ext cx="170078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66666"/>
                </a:solidFill>
              </a:defRPr>
            </a:pPr>
            <a:r>
              <a:t>Avg % Viewed</a:t>
            </a:r>
          </a:p>
          <a:p>
            <a:pPr>
              <a:defRPr sz="1600" b="1">
                <a:solidFill>
                  <a:srgbClr val="1A2B4A"/>
                </a:solidFill>
              </a:defRPr>
            </a:pPr>
            <a:r>
              <a:t>[TBD]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1280160"/>
            <a:ext cx="1920240" cy="91440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76288" y="1353312"/>
            <a:ext cx="170078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66666"/>
                </a:solidFill>
              </a:defRPr>
            </a:pPr>
            <a:r>
              <a:t>Email Open Rate</a:t>
            </a:r>
          </a:p>
          <a:p>
            <a:pPr>
              <a:defRPr sz="1600" b="1">
                <a:solidFill>
                  <a:srgbClr val="1A2B4A"/>
                </a:solidFill>
              </a:defRPr>
            </a:pPr>
            <a:r>
              <a:t>[TBD]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377440"/>
            <a:ext cx="1920240" cy="91440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50592"/>
            <a:ext cx="170078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66666"/>
                </a:solidFill>
              </a:defRPr>
            </a:pPr>
            <a:r>
              <a:t>Email Opens</a:t>
            </a:r>
          </a:p>
          <a:p>
            <a:pPr>
              <a:defRPr sz="1600" b="1">
                <a:solidFill>
                  <a:srgbClr val="1A2B4A"/>
                </a:solidFill>
              </a:defRPr>
            </a:pPr>
            <a:r>
              <a:t>[TBD]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60320" y="2377440"/>
            <a:ext cx="1920240" cy="91440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70048" y="2450592"/>
            <a:ext cx="170078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66666"/>
                </a:solidFill>
              </a:defRPr>
            </a:pPr>
            <a:r>
              <a:t>Email Clicks</a:t>
            </a:r>
          </a:p>
          <a:p>
            <a:pPr>
              <a:defRPr sz="1600" b="1">
                <a:solidFill>
                  <a:srgbClr val="1A2B4A"/>
                </a:solidFill>
              </a:defRPr>
            </a:pPr>
            <a:r>
              <a:t>[TBD]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63440" y="2377440"/>
            <a:ext cx="1920240" cy="91440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450592"/>
            <a:ext cx="170078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66666"/>
                </a:solidFill>
              </a:defRPr>
            </a:pPr>
            <a:r>
              <a:t>LinkedIn Reactions</a:t>
            </a:r>
          </a:p>
          <a:p>
            <a:pPr>
              <a:defRPr sz="1600" b="1">
                <a:solidFill>
                  <a:srgbClr val="1A2B4A"/>
                </a:solidFill>
              </a:defRPr>
            </a:pPr>
            <a:r>
              <a:t>26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66560" y="2377440"/>
            <a:ext cx="1920240" cy="91440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76288" y="2450592"/>
            <a:ext cx="170078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66666"/>
                </a:solidFill>
              </a:defRPr>
            </a:pPr>
            <a:r>
              <a:t>Google Ads Clicks</a:t>
            </a:r>
          </a:p>
          <a:p>
            <a:pPr>
              <a:defRPr sz="1600" b="1">
                <a:solidFill>
                  <a:srgbClr val="1A2B4A"/>
                </a:solidFill>
              </a:defRPr>
            </a:pPr>
            <a:r>
              <a:t>[TBD]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566160"/>
            <a:ext cx="8229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2B4A"/>
                </a:solidFill>
              </a:defRPr>
            </a:pPr>
            <a:r>
              <a:t>Campaign Overview</a:t>
            </a:r>
          </a:p>
          <a:p>
            <a:pPr>
              <a:defRPr sz="1100">
                <a:solidFill>
                  <a:srgbClr val="333333"/>
                </a:solidFill>
              </a:defRPr>
            </a:pPr>
            <a:r>
              <a:t>• Full episode + clips on YouTube; syndicated to podcast and social channels</a:t>
            </a:r>
          </a:p>
          <a:p>
            <a:pPr>
              <a:defRPr sz="1100">
                <a:solidFill>
                  <a:srgbClr val="333333"/>
                </a:solidFill>
              </a:defRPr>
            </a:pPr>
            <a:r>
              <a:t>• Email via Constant Contact; paid promotion via Google Ads</a:t>
            </a:r>
          </a:p>
          <a:p>
            <a:pPr>
              <a:defRPr sz="1100">
                <a:solidFill>
                  <a:srgbClr val="333333"/>
                </a:solidFill>
              </a:defRPr>
            </a:pPr>
            <a:r>
              <a:t>• Landing page: crownsmen.com/equify-financial-construction-equipment-financing/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</a:defRPr>
            </a:pPr>
            <a:r>
              <a:t>Crownsmen Partners | Confidential | 2026-07-31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YouTube — Video Views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9A227"/>
                </a:solidFill>
              </a:defRPr>
            </a:pPr>
            <a:r>
              <a:t>Crownsmen Partners Channel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749808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1097280"/>
                <a:gridCol w="1371600"/>
              </a:tblGrid>
              <a:tr h="29260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Video</a:t>
                      </a:r>
                    </a:p>
                  </a:txBody>
                  <a:tcPr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Video Views</a:t>
                      </a:r>
                    </a:p>
                  </a:txBody>
                  <a:tcPr>
                    <a:solidFill>
                      <a:srgbClr val="1A2B4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Equify Financial: The Hidden Cash Inside Your Equi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52,900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Equify Financial Shares Why Renting Equipment Firs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Clip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2,104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Equify Financial Talks About Equipment Financing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Clip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1,617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3840480"/>
            <a:ext cx="2560320" cy="914400"/>
          </a:xfrm>
          <a:prstGeom prst="rect">
            <a:avLst/>
          </a:prstGeom>
          <a:solidFill>
            <a:srgbClr val="C9A227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3913632"/>
            <a:ext cx="234086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1A2B4A"/>
                </a:solidFill>
              </a:defRPr>
            </a:pPr>
            <a:r>
              <a:t>Main Episode Views</a:t>
            </a:r>
          </a:p>
          <a:p>
            <a:pPr>
              <a:defRPr sz="2000" b="1">
                <a:solidFill>
                  <a:srgbClr val="1A2B4A"/>
                </a:solidFill>
              </a:defRPr>
            </a:pPr>
            <a:r>
              <a:t>52,900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3840480"/>
            <a:ext cx="2560320" cy="91440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10128" y="3913632"/>
            <a:ext cx="234086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66666"/>
                </a:solidFill>
              </a:defRPr>
            </a:pPr>
            <a:r>
              <a:t>Total YouTube Views</a:t>
            </a:r>
          </a:p>
          <a:p>
            <a:pPr>
              <a:defRPr sz="1600" b="1">
                <a:solidFill>
                  <a:srgbClr val="1A2B4A"/>
                </a:solidFill>
              </a:defRPr>
            </a:pPr>
            <a:r>
              <a:t>56,621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</a:defRPr>
            </a:pPr>
            <a:r>
              <a:t>Crownsmen Partners | Confidential | 2026-07-31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YouTube Analytics &amp; Retention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9A227"/>
                </a:solidFill>
              </a:defRPr>
            </a:pPr>
            <a:r>
              <a:t>Equify Financial: The Hidden Cash Inside Your Equipment Flee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011680" cy="914400"/>
          </a:xfrm>
          <a:prstGeom prst="rect">
            <a:avLst/>
          </a:prstGeom>
          <a:solidFill>
            <a:srgbClr val="C9A227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261872"/>
            <a:ext cx="179222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1A2B4A"/>
                </a:solidFill>
              </a:defRPr>
            </a:pPr>
            <a:r>
              <a:t>Video Views</a:t>
            </a:r>
          </a:p>
          <a:p>
            <a:pPr>
              <a:defRPr sz="2000" b="1">
                <a:solidFill>
                  <a:srgbClr val="1A2B4A"/>
                </a:solidFill>
              </a:defRPr>
            </a:pPr>
            <a:r>
              <a:t>52,900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0" y="1188720"/>
            <a:ext cx="2011680" cy="91440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70048" y="1261872"/>
            <a:ext cx="179222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66666"/>
                </a:solidFill>
              </a:defRPr>
            </a:pPr>
            <a:r>
              <a:t>Avg % Viewed</a:t>
            </a:r>
          </a:p>
          <a:p>
            <a:pPr>
              <a:defRPr sz="1600" b="1">
                <a:solidFill>
                  <a:srgbClr val="1A2B4A"/>
                </a:solidFill>
              </a:defRPr>
            </a:pPr>
            <a:r>
              <a:t>[TBD]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0" y="1188720"/>
            <a:ext cx="2011680" cy="91440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64608" y="1261872"/>
            <a:ext cx="179222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66666"/>
                </a:solidFill>
              </a:defRPr>
            </a:pPr>
            <a:r>
              <a:t>Avg View Duration</a:t>
            </a:r>
          </a:p>
          <a:p>
            <a:pPr>
              <a:defRPr sz="1600" b="1">
                <a:solidFill>
                  <a:srgbClr val="1A2B4A"/>
                </a:solidFill>
              </a:defRPr>
            </a:pPr>
            <a:r>
              <a:t>[TBD]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0" y="1188720"/>
            <a:ext cx="1828800" cy="91440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59168" y="1261872"/>
            <a:ext cx="160934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66666"/>
                </a:solidFill>
              </a:defRPr>
            </a:pPr>
            <a:r>
              <a:t>Watch Time (hrs)</a:t>
            </a:r>
          </a:p>
          <a:p>
            <a:pPr>
              <a:defRPr sz="1600" b="1">
                <a:solidFill>
                  <a:srgbClr val="1A2B4A"/>
                </a:solidFill>
              </a:defRPr>
            </a:pPr>
            <a:r>
              <a:t>[TBD]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286000"/>
            <a:ext cx="2560320" cy="91440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2359152"/>
            <a:ext cx="234086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66666"/>
                </a:solidFill>
              </a:defRPr>
            </a:pPr>
            <a:r>
              <a:t>≥25% Watched</a:t>
            </a:r>
          </a:p>
          <a:p>
            <a:pPr>
              <a:defRPr sz="1600" b="1">
                <a:solidFill>
                  <a:srgbClr val="1A2B4A"/>
                </a:solidFill>
              </a:defRPr>
            </a:pPr>
            <a:r>
              <a:t>[TBD]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08960" y="2286000"/>
            <a:ext cx="2560320" cy="91440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18688" y="2359152"/>
            <a:ext cx="234086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66666"/>
                </a:solidFill>
              </a:defRPr>
            </a:pPr>
            <a:r>
              <a:t>≥50% Watched</a:t>
            </a:r>
          </a:p>
          <a:p>
            <a:pPr>
              <a:defRPr sz="1600" b="1">
                <a:solidFill>
                  <a:srgbClr val="1A2B4A"/>
                </a:solidFill>
              </a:defRPr>
            </a:pPr>
            <a:r>
              <a:t>[TBD]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52160" y="2286000"/>
            <a:ext cx="2560320" cy="91440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61888" y="2359152"/>
            <a:ext cx="234086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66666"/>
                </a:solidFill>
              </a:defRPr>
            </a:pPr>
            <a:r>
              <a:t>≥90% Watched</a:t>
            </a:r>
          </a:p>
          <a:p>
            <a:pPr>
              <a:defRPr sz="1600" b="1">
                <a:solidFill>
                  <a:srgbClr val="1A2B4A"/>
                </a:solidFill>
              </a:defRPr>
            </a:pPr>
            <a:r>
              <a:t>[TBD]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65760" y="3474720"/>
          <a:ext cx="457200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371600"/>
              </a:tblGrid>
              <a:tr h="29260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Retention Threshold</a:t>
                      </a:r>
                    </a:p>
                  </a:txBody>
                  <a:tcPr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1A2B4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25% or more of video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50% or more of video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90% or more of video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</a:defRPr>
            </a:pPr>
            <a:r>
              <a:t>Crownsmen Partners | Confidential | 2026-07-31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YouTube Geography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9A227"/>
                </a:solidFill>
              </a:defRPr>
            </a:pPr>
            <a:r>
              <a:t>Views by Country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7315200" cy="8229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371600"/>
                <a:gridCol w="2286000"/>
                <a:gridCol w="1828800"/>
              </a:tblGrid>
              <a:tr h="274319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Country</a:t>
                      </a:r>
                    </a:p>
                  </a:txBody>
                  <a:tcPr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Views</a:t>
                      </a:r>
                    </a:p>
                  </a:txBody>
                  <a:tcPr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Avg View Duration</a:t>
                      </a:r>
                    </a:p>
                  </a:txBody>
                  <a:tcPr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Watch Time (hrs)</a:t>
                      </a:r>
                    </a:p>
                  </a:txBody>
                  <a:tcPr>
                    <a:solidFill>
                      <a:srgbClr val="1A2B4A"/>
                    </a:solidFill>
                  </a:tcPr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/>
                </a:tc>
              </a:tr>
              <a:tr h="274321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TOTAL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</a:defRPr>
            </a:pPr>
            <a:r>
              <a:t>Crownsmen Partners | Confidential | 2026-07-31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Social Media — LinkedIn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9A227"/>
                </a:solidFill>
              </a:defRPr>
            </a:pPr>
            <a:r>
              <a:t>Organic Posts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371600"/>
          <a:ext cx="795528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371600"/>
                <a:gridCol w="1371600"/>
                <a:gridCol w="1371600"/>
                <a:gridCol w="1097280"/>
              </a:tblGrid>
              <a:tr h="29260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Account</a:t>
                      </a:r>
                    </a:p>
                  </a:txBody>
                  <a:tcPr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Reactions</a:t>
                      </a:r>
                    </a:p>
                  </a:txBody>
                  <a:tcPr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Comments</a:t>
                      </a:r>
                    </a:p>
                  </a:txBody>
                  <a:tcPr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Impressions</a:t>
                      </a:r>
                    </a:p>
                  </a:txBody>
                  <a:tcPr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Clicks</a:t>
                      </a:r>
                    </a:p>
                  </a:txBody>
                  <a:tcPr>
                    <a:solidFill>
                      <a:srgbClr val="1A2B4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Crownsmen Partners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The Construction Show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19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</a:defRPr>
            </a:pPr>
            <a:r>
              <a:t>Crownsmen Partners | Confidential | 2026-07-31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Social &amp; Podcast Distribution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9A227"/>
                </a:solidFill>
              </a:defRPr>
            </a:pPr>
            <a:r>
              <a:t>Facebook | Instagram | Threads | X | Podcast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88720"/>
          <a:ext cx="384048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097280"/>
                <a:gridCol w="914400"/>
                <a:gridCol w="731520"/>
              </a:tblGrid>
              <a:tr h="256032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Platform</a:t>
                      </a:r>
                    </a:p>
                  </a:txBody>
                  <a:tcPr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Account</a:t>
                      </a:r>
                    </a:p>
                  </a:txBody>
                  <a:tcPr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Engagement</a:t>
                      </a:r>
                    </a:p>
                  </a:txBody>
                  <a:tcPr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Comments</a:t>
                      </a:r>
                    </a:p>
                  </a:txBody>
                  <a:tcPr>
                    <a:solidFill>
                      <a:srgbClr val="1A2B4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Facebook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Crownsmen Partners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Instagram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@crownsmenp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Threads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@crownsmenp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X (Twitter)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@CrownsmenP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0" y="1188720"/>
          <a:ext cx="36576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828800"/>
                <a:gridCol w="731520"/>
              </a:tblGrid>
              <a:tr h="256032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Platform</a:t>
                      </a:r>
                    </a:p>
                  </a:txBody>
                  <a:tcPr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Episode</a:t>
                      </a:r>
                    </a:p>
                  </a:txBody>
                  <a:tcPr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Plays</a:t>
                      </a:r>
                    </a:p>
                  </a:txBody>
                  <a:tcPr>
                    <a:solidFill>
                      <a:srgbClr val="1A2B4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Spotify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CS 67. Equify Financial: The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Apple Podcasts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CS 67. Equify Financial: The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Amazon Music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CS 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Rumble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CS 67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</a:defRPr>
            </a:pPr>
            <a:r>
              <a:t>Crownsmen Partners | Confidential | 2026-07-31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Email Marketing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9A227"/>
                </a:solidFill>
              </a:defRPr>
            </a:pPr>
            <a:r>
              <a:t>Constant Contact via Zapier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920240" cy="1188720"/>
          </a:xfrm>
          <a:prstGeom prst="rect">
            <a:avLst/>
          </a:prstGeom>
          <a:solidFill>
            <a:srgbClr val="C9A227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444752"/>
            <a:ext cx="1700784" cy="1042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1A2B4A"/>
                </a:solidFill>
              </a:defRPr>
            </a:pPr>
            <a:r>
              <a:t>Successful Deliveries</a:t>
            </a:r>
          </a:p>
          <a:p>
            <a:pPr>
              <a:defRPr sz="2000" b="1">
                <a:solidFill>
                  <a:srgbClr val="1A2B4A"/>
                </a:solidFill>
              </a:defRPr>
            </a:pPr>
            <a:r>
              <a:t>[TBD]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0" y="1371600"/>
            <a:ext cx="1920240" cy="11887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70048" y="1444752"/>
            <a:ext cx="1700784" cy="1042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66666"/>
                </a:solidFill>
              </a:defRPr>
            </a:pPr>
            <a:r>
              <a:t>Opens</a:t>
            </a:r>
          </a:p>
          <a:p>
            <a:pPr>
              <a:defRPr sz="1600" b="1">
                <a:solidFill>
                  <a:srgbClr val="1A2B4A"/>
                </a:solidFill>
              </a:defRPr>
            </a:pPr>
            <a:r>
              <a:t>[TBD]</a:t>
            </a:r>
          </a:p>
        </p:txBody>
      </p:sp>
      <p:sp>
        <p:nvSpPr>
          <p:cNvPr id="9" name="Rectangle 8"/>
          <p:cNvSpPr/>
          <p:nvPr/>
        </p:nvSpPr>
        <p:spPr>
          <a:xfrm>
            <a:off x="4663440" y="1371600"/>
            <a:ext cx="1920240" cy="11887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1444752"/>
            <a:ext cx="1700784" cy="1042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66666"/>
                </a:solidFill>
              </a:defRPr>
            </a:pPr>
            <a:r>
              <a:t>Open Rate</a:t>
            </a:r>
          </a:p>
          <a:p>
            <a:pPr>
              <a:defRPr sz="1600" b="1">
                <a:solidFill>
                  <a:srgbClr val="1A2B4A"/>
                </a:solidFill>
              </a:defRPr>
            </a:pPr>
            <a:r>
              <a:t>[TBD]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1371600"/>
            <a:ext cx="1920240" cy="11887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76288" y="1444752"/>
            <a:ext cx="1700784" cy="10424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66666"/>
                </a:solidFill>
              </a:defRPr>
            </a:pPr>
            <a:r>
              <a:t>Clicks</a:t>
            </a:r>
          </a:p>
          <a:p>
            <a:pPr>
              <a:defRPr sz="1600" b="1">
                <a:solidFill>
                  <a:srgbClr val="1A2B4A"/>
                </a:solidFill>
              </a:defRPr>
            </a:pPr>
            <a:r>
              <a:t>[TBD]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57200" y="2926080"/>
          <a:ext cx="502920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743200"/>
              </a:tblGrid>
              <a:tr h="292608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1A2B4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Successful Deliveries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Opens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Open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Clicks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Campaign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Subject Line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</a:defRPr>
            </a:pPr>
            <a:r>
              <a:t>Crownsmen Partners | Confidential | 2026-07-31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Google Ads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9A227"/>
                </a:solidFill>
              </a:defRPr>
            </a:pPr>
            <a:r>
              <a:t>Paid Media via Zapier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7772400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371600"/>
                <a:gridCol w="4114800"/>
              </a:tblGrid>
              <a:tr h="32004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Ad / Campaign</a:t>
                      </a:r>
                    </a:p>
                  </a:txBody>
                  <a:tcPr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Clicks to URL</a:t>
                      </a:r>
                    </a:p>
                  </a:txBody>
                  <a:tcPr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Landing Page URL</a:t>
                      </a:r>
                    </a:p>
                  </a:txBody>
                  <a:tcPr>
                    <a:solidFill>
                      <a:srgbClr val="1A2B4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[TBD]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</a:defRPr>
                      </a:pPr>
                      <a:r>
                        <a:t>https://www.crownsmen.com/equify-financial-co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4114800"/>
            <a:ext cx="2011680" cy="914400"/>
          </a:xfrm>
          <a:prstGeom prst="rect">
            <a:avLst/>
          </a:prstGeom>
          <a:solidFill>
            <a:srgbClr val="C9A227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4187952"/>
            <a:ext cx="179222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1A2B4A"/>
                </a:solidFill>
              </a:defRPr>
            </a:pPr>
            <a:r>
              <a:t>Total Clicks</a:t>
            </a:r>
          </a:p>
          <a:p>
            <a:pPr>
              <a:defRPr sz="2000" b="1">
                <a:solidFill>
                  <a:srgbClr val="1A2B4A"/>
                </a:solidFill>
              </a:defRPr>
            </a:pPr>
            <a:r>
              <a:t>[TBD]</a:t>
            </a:r>
          </a:p>
        </p:txBody>
      </p:sp>
      <p:sp>
        <p:nvSpPr>
          <p:cNvPr id="8" name="Rectangle 7"/>
          <p:cNvSpPr/>
          <p:nvPr/>
        </p:nvSpPr>
        <p:spPr>
          <a:xfrm>
            <a:off x="2651760" y="4114800"/>
            <a:ext cx="2011680" cy="91440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61488" y="4187952"/>
            <a:ext cx="179222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66666"/>
                </a:solidFill>
              </a:defRPr>
            </a:pPr>
            <a:r>
              <a:t>Impressions</a:t>
            </a:r>
          </a:p>
          <a:p>
            <a:pPr>
              <a:defRPr sz="1600" b="1">
                <a:solidFill>
                  <a:srgbClr val="1A2B4A"/>
                </a:solidFill>
              </a:defRPr>
            </a:pPr>
            <a:r>
              <a:t>[TBD]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46320" y="4114800"/>
            <a:ext cx="2011680" cy="91440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56048" y="4187952"/>
            <a:ext cx="179222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66666"/>
                </a:solidFill>
              </a:defRPr>
            </a:pPr>
            <a:r>
              <a:t>CTR</a:t>
            </a:r>
          </a:p>
          <a:p>
            <a:pPr>
              <a:defRPr sz="1600" b="1">
                <a:solidFill>
                  <a:srgbClr val="1A2B4A"/>
                </a:solidFill>
              </a:defRPr>
            </a:pPr>
            <a:r>
              <a:t>[TBD]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0880" y="4114800"/>
            <a:ext cx="1645920" cy="91440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50608" y="4187952"/>
            <a:ext cx="1426464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66666"/>
                </a:solidFill>
              </a:defRPr>
            </a:pPr>
            <a:r>
              <a:t>Cost</a:t>
            </a:r>
          </a:p>
          <a:p>
            <a:pPr>
              <a:defRPr sz="1600" b="1">
                <a:solidFill>
                  <a:srgbClr val="1A2B4A"/>
                </a:solidFill>
              </a:defRPr>
            </a:pPr>
            <a:r>
              <a:t>[TBD]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</a:defRPr>
            </a:pPr>
            <a:r>
              <a:t>Crownsmen Partners | Confidential | 2026-07-31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Summary &amp; Key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9A227"/>
                </a:solidFill>
              </a:defRPr>
            </a:pPr>
            <a:r>
              <a:t>Equify Financial — CS 67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A2B4A"/>
                </a:solidFill>
              </a:defRPr>
            </a:pPr>
            <a:r>
              <a:t>Performance Highlights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</a:defRPr>
            </a:pPr>
            <a:r>
              <a:t>✓  Main episode: 52,900 video views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</a:defRPr>
            </a:pPr>
            <a:r>
              <a:t>✓  LinkedIn reactions: 26</a:t>
            </a:r>
          </a:p>
          <a:p>
            <a:br/>
            <a:pPr>
              <a:defRPr sz="1300" b="1">
                <a:solidFill>
                  <a:srgbClr val="1A2B4A"/>
                </a:solidFill>
              </a:defRPr>
            </a:pPr>
            <a:r>
              <a:t>Data Gaps</a:t>
            </a:r>
          </a:p>
          <a:p>
            <a:pPr>
              <a:defRPr sz="900">
                <a:solidFill>
                  <a:srgbClr val="666666"/>
                </a:solidFill>
              </a:defRPr>
            </a:pPr>
            <a:r>
              <a:t>• YouTube Analytics: Average Percentage Viewed (YouTube Analytics API / Zapie...</a:t>
            </a:r>
          </a:p>
          <a:p>
            <a:pPr>
              <a:defRPr sz="900">
                <a:solidFill>
                  <a:srgbClr val="666666"/>
                </a:solidFill>
              </a:defRPr>
            </a:pPr>
            <a:r>
              <a:t>• YouTube Analytics: Average View Duration (YouTube Analytics API / Zapier)</a:t>
            </a:r>
          </a:p>
          <a:p>
            <a:pPr>
              <a:defRPr sz="900">
                <a:solidFill>
                  <a:srgbClr val="666666"/>
                </a:solidFill>
              </a:defRPr>
            </a:pPr>
            <a:r>
              <a:t>• YouTube Analytics: Watch Time Hours (YouTube Analytics API / Zapier)</a:t>
            </a:r>
          </a:p>
          <a:p>
            <a:pPr>
              <a:defRPr sz="900">
                <a:solidFill>
                  <a:srgbClr val="666666"/>
                </a:solidFill>
              </a:defRPr>
            </a:pPr>
            <a:r>
              <a:t>• YouTube Analytics: % viewers watching 25% or more (YouTube Analytics API / ...</a:t>
            </a:r>
          </a:p>
          <a:p>
            <a:pPr>
              <a:defRPr sz="900">
                <a:solidFill>
                  <a:srgbClr val="666666"/>
                </a:solidFill>
              </a:defRPr>
            </a:pPr>
            <a:r>
              <a:t>• YouTube Analytics: % viewers watching 50% or more (YouTube Analytics API / ...</a:t>
            </a:r>
          </a:p>
          <a:p>
            <a:pPr>
              <a:defRPr sz="900">
                <a:solidFill>
                  <a:srgbClr val="666666"/>
                </a:solidFill>
              </a:defRPr>
            </a:pPr>
            <a:r>
              <a:t>• YouTube Analytics: % viewers watching 90% or more (YouTube Analytics API / ...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720" y="1463040"/>
            <a:ext cx="2926080" cy="822960"/>
          </a:xfrm>
          <a:prstGeom prst="rect">
            <a:avLst/>
          </a:prstGeom>
          <a:solidFill>
            <a:srgbClr val="C9A227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70448" y="1536192"/>
            <a:ext cx="2706624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1A2B4A"/>
                </a:solidFill>
              </a:defRPr>
            </a:pPr>
            <a:r>
              <a:t>Video Views</a:t>
            </a:r>
          </a:p>
          <a:p>
            <a:pPr>
              <a:defRPr sz="2000" b="1">
                <a:solidFill>
                  <a:srgbClr val="1A2B4A"/>
                </a:solidFill>
              </a:defRPr>
            </a:pPr>
            <a:r>
              <a:t>52,900</a:t>
            </a:r>
          </a:p>
        </p:txBody>
      </p:sp>
      <p:sp>
        <p:nvSpPr>
          <p:cNvPr id="8" name="Rectangle 7"/>
          <p:cNvSpPr/>
          <p:nvPr/>
        </p:nvSpPr>
        <p:spPr>
          <a:xfrm>
            <a:off x="5760720" y="2468880"/>
            <a:ext cx="2926080" cy="82296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70448" y="2542032"/>
            <a:ext cx="2706624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66666"/>
                </a:solidFill>
              </a:defRPr>
            </a:pPr>
            <a:r>
              <a:t>Watch Time (hrs)</a:t>
            </a:r>
          </a:p>
          <a:p>
            <a:pPr>
              <a:defRPr sz="1600" b="1">
                <a:solidFill>
                  <a:srgbClr val="1A2B4A"/>
                </a:solidFill>
              </a:defRPr>
            </a:pPr>
            <a:r>
              <a:t>[TBD]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60720" y="3474720"/>
            <a:ext cx="2926080" cy="82296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70448" y="3547872"/>
            <a:ext cx="2706624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66666"/>
                </a:solidFill>
              </a:defRPr>
            </a:pPr>
            <a:r>
              <a:t>Email Opens</a:t>
            </a:r>
          </a:p>
          <a:p>
            <a:pPr>
              <a:defRPr sz="1600" b="1">
                <a:solidFill>
                  <a:srgbClr val="1A2B4A"/>
                </a:solidFill>
              </a:defRPr>
            </a:pPr>
            <a:r>
              <a:t>[TBD]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60720" y="4480560"/>
            <a:ext cx="2926080" cy="82296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70448" y="4553712"/>
            <a:ext cx="2706624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66666"/>
                </a:solidFill>
              </a:defRPr>
            </a:pPr>
            <a:r>
              <a:t>Google Ads Clicks</a:t>
            </a:r>
          </a:p>
          <a:p>
            <a:pPr>
              <a:defRPr sz="1600" b="1">
                <a:solidFill>
                  <a:srgbClr val="1A2B4A"/>
                </a:solidFill>
              </a:defRPr>
            </a:pPr>
            <a:r>
              <a:t>[TBD]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66666"/>
                </a:solidFill>
              </a:defRPr>
            </a:pPr>
            <a:r>
              <a:t>Crownsmen Partners | Confidential | 2026-07-31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